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chômage</c:v>
                </c:pt>
              </c:strCache>
            </c:strRef>
          </c:tx>
          <c:spPr>
            <a:solidFill>
              <a:srgbClr val="2A664E"/>
            </a:solidFill>
            <a:ln>
              <a:solidFill>
                <a:srgbClr val="2A664E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13.3</c:v>
                </c:pt>
                <c:pt idx="1">
                  <c:v>13.0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chômage (%)</c:v>
                </c:pt>
              </c:strCache>
            </c:strRef>
          </c:tx>
          <c:spPr>
            <a:solidFill>
              <a:srgbClr val="2A664E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13.3</c:v>
                </c:pt>
                <c:pt idx="1">
                  <c:v>13.0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D7C8"/>
                </a:solidFill>
                <a:latin typeface="Aptos"/>
              </a:rPr>
              <a:t>RAPPORT — ÉCONOMIE MAROCAINE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Pourquoi le taux de chômage
au Maroc peut-il baisser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175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1E8E2"/>
                </a:solidFill>
                <a:latin typeface="Aptos"/>
              </a:rPr>
              <a:t>Comprendre la baisse du chômage sans confondre baisse du taux, création d’emplois et amélioration globale du marché du travail.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3028"/>
                </a:solidFill>
                <a:latin typeface="Aptos"/>
              </a:rPr>
              <a:t>DONNÉES OFFICIELLES — HCP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2834640" cy="457200"/>
          </a:xfrm>
          <a:prstGeom prst="roundRect">
            <a:avLst/>
          </a:prstGeom>
          <a:solidFill>
            <a:srgbClr val="E8D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73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3028"/>
                </a:solidFill>
                <a:latin typeface="Aptos"/>
              </a:rPr>
              <a:t>DONNÉES OFFICIELLES — HCP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692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4D0C9"/>
                </a:solidFill>
                <a:latin typeface="Aptos"/>
              </a:rPr>
              <a:t>Analyse du marché du travail marocain — 2025 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3028"/>
                </a:solidFill>
                <a:latin typeface="Aptos"/>
              </a:rPr>
              <a:t>1. Une baisse réelle, mais modérée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76E69"/>
                </a:solidFill>
                <a:latin typeface="Aptos"/>
              </a:rPr>
              <a:t>Évolution du taux de chômage selon les résultats annuels du HCP.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5010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028"/>
                </a:solidFill>
                <a:latin typeface="Aptos"/>
              </a:rPr>
              <a:t>13,3 %  →  13,0 %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2239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676E69"/>
                </a:solidFill>
                <a:latin typeface="Aptos"/>
              </a:rPr>
              <a:t>−0,3 point entre 2024 et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417320"/>
            <a:ext cx="64008" cy="1417320"/>
          </a:xfrm>
          <a:prstGeom prst="rect">
            <a:avLst/>
          </a:prstGeom>
          <a:solidFill>
            <a:srgbClr val="2A6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81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193 000 emplois créés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39112"/>
            <a:ext cx="43891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L’économie nationale a créé 193 000 postes en 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06324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063240"/>
            <a:ext cx="64008" cy="141732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227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Les secteurs moteurs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85032"/>
            <a:ext cx="43891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Services : +123 000 | BTP : +64 000 | Industrie : +46 000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70916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4709160"/>
            <a:ext cx="64008" cy="1051560"/>
          </a:xfrm>
          <a:prstGeom prst="rect">
            <a:avLst/>
          </a:prstGeom>
          <a:solidFill>
            <a:srgbClr val="2A6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8737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À retenir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30952"/>
            <a:ext cx="43891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La baisse du chômage accompagne une création nette d’emplois, mais elle reste limitée.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76E69"/>
                </a:solidFill>
                <a:latin typeface="Aptos"/>
              </a:rPr>
              <a:t>Source officielle : HCP — Activité, emploi et chômage, résultats annuels 2025 (6 mai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3028"/>
                </a:solidFill>
                <a:latin typeface="Aptos"/>
              </a:rPr>
              <a:t>2. Pourquoi le chômage peut-il diminuer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76E69"/>
                </a:solidFill>
                <a:latin typeface="Aptos"/>
              </a:rPr>
              <a:t>Trois mécanismes permettent de comprendre l’évolution du taux.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965960"/>
          </a:xfrm>
          <a:prstGeom prst="rect">
            <a:avLst/>
          </a:prstGeom>
          <a:solidFill>
            <a:srgbClr val="2A6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① Création d’emplois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Quand davantage de postes sont créés, une partie des personnes sans emploi retrouve une activité.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96596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② Recrutements sectoriels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Les services, le BTP et l’industrie ont fortement contribué aux créations nettes d’emplois en 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1965960"/>
          </a:xfrm>
          <a:prstGeom prst="rect">
            <a:avLst/>
          </a:prstGeom>
          <a:solidFill>
            <a:srgbClr val="2A6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③ Évolution du nombre de chômeurs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Le taux dépend du nombre de chômeurs rapporté à la population active : une diminution du nombre de chômeurs peut donc faire baisser le taux.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3028"/>
                </a:solidFill>
                <a:latin typeface="Aptos"/>
              </a:rPr>
              <a:t>Le mécanisme simplifié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2788920" cy="1188720"/>
          </a:xfrm>
          <a:prstGeom prst="round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3028"/>
                </a:solidFill>
                <a:latin typeface="Aptos"/>
              </a:rPr>
              <a:t>EMPLOIS CRÉÉS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A28"/>
                </a:solidFill>
                <a:latin typeface="Aptos"/>
              </a:rPr>
              <a:t>↑ personnes occupées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343400"/>
            <a:ext cx="2788920" cy="1188720"/>
          </a:xfrm>
          <a:prstGeom prst="round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4526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3028"/>
                </a:solidFill>
                <a:latin typeface="Aptos"/>
              </a:rPr>
              <a:t>RECRUTEMENTS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A28"/>
                </a:solidFill>
                <a:latin typeface="Aptos"/>
              </a:rPr>
              <a:t>↓ personnes au chômage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343400"/>
            <a:ext cx="2788920" cy="1188720"/>
          </a:xfrm>
          <a:prstGeom prst="roundRect">
            <a:avLst/>
          </a:prstGeom>
          <a:solidFill>
            <a:srgbClr val="D7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526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3028"/>
                </a:solidFill>
                <a:latin typeface="Aptos"/>
              </a:rPr>
              <a:t>TAUX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A28"/>
                </a:solidFill>
                <a:latin typeface="Aptos"/>
              </a:rPr>
              <a:t>peut diminuer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76E69"/>
                </a:solidFill>
                <a:latin typeface="Aptos"/>
              </a:rPr>
              <a:t>Source officielle : HCP — Activité, emploi et chômage, résultats annuels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3028"/>
                </a:solidFill>
                <a:latin typeface="Aptos"/>
              </a:rPr>
              <a:t>3. Pourquoi faut-il nuancer cette baisse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76E69"/>
                </a:solidFill>
                <a:latin typeface="Aptos"/>
              </a:rPr>
              <a:t>Le chômage n’est qu’un indicateur parmi plusieurs pour évaluer le marché du travail.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9D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Le sous-emploi a augmenté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93775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En 2025, le taux de sous-emploi est passé de 10,1 % à 10,9 %. Une personne peut donc avoir un emploi tout en restant dans une situation de sous-utilisation de son travail.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1828800"/>
          </a:xfrm>
          <a:prstGeom prst="rect">
            <a:avLst/>
          </a:prstGeom>
          <a:solidFill>
            <a:srgbClr val="2A6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83028"/>
                </a:solidFill>
                <a:latin typeface="Aptos"/>
              </a:rPr>
              <a:t>Les écarts restent importants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3775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62A28"/>
                </a:solidFill>
                <a:latin typeface="Aptos"/>
              </a:rPr>
              <a:t>En 2025, le chômage atteignait 37,2 % chez les 15–24 ans et 20,5 % chez les femmes. La baisse nationale ne profite donc pas de la même manière à toutes les catégories.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3028"/>
                </a:solidFill>
                <a:latin typeface="Aptos"/>
              </a:rPr>
              <a:t>Attention à la rupture statistique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A28"/>
                </a:solidFill>
                <a:latin typeface="Aptos"/>
              </a:rPr>
              <a:t>Le HCP a lancé l’EMO2026, une nouvelle enquête fondée sur des concepts différents. Le « chômage strict » ne retient que les personnes sans emploi, disponibles et recherchant activement un emploi. Les résultats 2026 ne doivent donc pas être comparés directement à l’ancienne série ENE ; le HCP publie des séries rétropolées pour permettre des comparaisons méthodologiquement valides.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76E69"/>
                </a:solidFill>
                <a:latin typeface="Aptos"/>
              </a:rPr>
              <a:t>Source officielle : HCP — Résultats annuels 2025 ; EMO2026, T1–T2 2026. Les séries 2026 ne sont pas directement comparables aux anciennes séries 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 — une baisse à interpréter, pas à isoler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1E8E2"/>
                </a:solidFill>
                <a:latin typeface="Aptos"/>
              </a:rPr>
              <a:t>Le taux de chômage marocain a légèrement diminué en 2025, notamment dans un contexte de création nette d’emplois. Mais cette évolution ne suffit pas, à elle seule, à conclure que le marché du travail s’est amélioré pour l’ensemble de la population.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3246120" cy="2331720"/>
          </a:xfrm>
          <a:prstGeom prst="roundRect">
            <a:avLst/>
          </a:prstGeom>
          <a:solidFill>
            <a:srgbClr val="233F35"/>
          </a:solidFill>
          <a:ln>
            <a:solidFill>
              <a:srgbClr val="405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B97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Création d’emplois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D7E1DB"/>
                </a:solidFill>
                <a:latin typeface="Aptos"/>
              </a:rPr>
              <a:t>193 000 postes ont été créés en 2025, principalement dans les services, le BTP et l’industrie.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88920"/>
            <a:ext cx="3246120" cy="2331720"/>
          </a:xfrm>
          <a:prstGeom prst="roundRect">
            <a:avLst/>
          </a:prstGeom>
          <a:solidFill>
            <a:srgbClr val="233F35"/>
          </a:solidFill>
          <a:ln>
            <a:solidFill>
              <a:srgbClr val="405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017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B97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9300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Des difficultés persistent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206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D7E1DB"/>
                </a:solidFill>
                <a:latin typeface="Aptos"/>
              </a:rPr>
              <a:t>Le sous-emploi a progressé et les jeunes ainsi que les femmes restent davantage exposés au chômage.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788920"/>
            <a:ext cx="3246120" cy="2331720"/>
          </a:xfrm>
          <a:prstGeom prst="roundRect">
            <a:avLst/>
          </a:prstGeom>
          <a:solidFill>
            <a:srgbClr val="233F35"/>
          </a:solidFill>
          <a:ln>
            <a:solidFill>
              <a:srgbClr val="405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B97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9300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Une lecture plus complète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D7E1DB"/>
                </a:solidFill>
                <a:latin typeface="Aptos"/>
              </a:rPr>
              <a:t>Pour comprendre le marché du travail, il faut regarder ensemble chômage, emploi, sous-emploi et participation.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ECDC4"/>
                </a:solidFill>
                <a:latin typeface="Aptos"/>
              </a:rPr>
              <a:t>Sources : Haut-Commissariat au Plan (HCP), résultats annuels 2025 et EMO2026 — T1/T2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4476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ECDC4"/>
                </a:solidFill>
                <a:latin typeface="Aptos"/>
              </a:rPr>
              <a:t>Rapport —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